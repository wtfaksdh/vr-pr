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2688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777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</a:rPr>
              <a:t>education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Kanban-доска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7CBD1"/>
                </a:solidFill>
              </a:rPr>
              <a:t>Практика в VK - веб-приложение с drag-and-drop, ролями участников и защитой от коллизий при одновременном редактировании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178"/>
                </a:solidFill>
              </a:rPr>
              <a:t>Кейс №3 · VK Education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B2F"/>
                </a:solidFill>
              </a:rPr>
              <a:t>О практике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F73"/>
                </a:solidFill>
              </a:rPr>
              <a:t>Формат, роль, цель работы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88EB"/>
                </a:solidFill>
              </a:rPr>
              <a:t>Формат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21488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B2F"/>
                </a:solidFill>
              </a:rPr>
              <a:t>Кейс №3 «Kanban доска» из воркшопа VK Education, выполнен единолично (соло)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4290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88EB"/>
                </a:solidFill>
              </a:rPr>
              <a:t>Цель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34290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B2F"/>
                </a:solidFill>
              </a:rPr>
              <a:t>Реализовать функциональный аналог Trello с авторизацией, ролями и корректной синхронизацией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7091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88EB"/>
                </a:solidFill>
              </a:rPr>
              <a:t>Референс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47091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B2F"/>
                </a:solidFill>
              </a:rPr>
              <a:t>Функциональность подсматривалась у kaiten.ru, интерфейс стилизован под ВКонтакте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B2F"/>
                </a:solidFill>
              </a:rPr>
              <a:t>Задача практики — обязательный MVP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F73"/>
                </a:solidFill>
              </a:rPr>
              <a:t>Что должно быть реализовано согласно требованиям кейса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756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B2F"/>
                </a:solidFill>
              </a:rPr>
              <a:t>Пользователи и доступ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6F73"/>
                </a:solidFill>
              </a:rPr>
              <a:t>Регистрация/логин; у доски есть владелец и участники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4930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B2F"/>
                </a:solidFill>
              </a:rPr>
              <a:t>Доски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6F73"/>
                </a:solidFill>
              </a:rPr>
              <a:t>Создание, удаление, редактирование, список досок пользователя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B2F"/>
                </a:solidFill>
              </a:rPr>
              <a:t>Колонки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2578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6F73"/>
                </a:solidFill>
              </a:rPr>
              <a:t>Создание, удаление, редактирование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19659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0756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B2F"/>
                </a:solidFill>
              </a:rPr>
              <a:t>Карточки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4231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6F73"/>
                </a:solidFill>
              </a:rPr>
              <a:t>Title, description, drag-and-drop между колонками, порядок в колонке, исполнитель, дедлайн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33832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4930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B2F"/>
                </a:solidFill>
              </a:rPr>
              <a:t>Комментарии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38404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6F73"/>
                </a:solidFill>
              </a:rPr>
              <a:t>К каждой карточке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48006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B2F"/>
                </a:solidFill>
              </a:rPr>
              <a:t>Плюс от себя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52578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6F73"/>
                </a:solidFill>
              </a:rPr>
              <a:t>Роли участников (RBAC), optimistic locking, полная контейнеризация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B2F"/>
                </a:solidFill>
              </a:rPr>
              <a:t>Архитектура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F73"/>
                </a:solidFill>
              </a:rPr>
              <a:t>Клиент - сервер - база данных, всё общение только через REST API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268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B2F"/>
                </a:solidFill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D6F73"/>
                </a:solidFill>
              </a:rPr>
              <a:t>React + TypeScript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D6F73"/>
                </a:solidFill>
              </a:rPr>
              <a:t>Vite, react-router,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D6F73"/>
                </a:solidFill>
              </a:rPr>
              <a:t>@hello-pangea/dnd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22860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2688EB"/>
          </a:solidFill>
          <a:ln w="19050">
            <a:solidFill>
              <a:srgbClr val="2688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Backend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30632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AF2FE"/>
                </a:solidFill>
              </a:rPr>
              <a:t>FastAPI + Python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AF2FE"/>
                </a:solidFill>
              </a:rPr>
              <a:t>SQLAlchemy ORM,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AF2FE"/>
                </a:solidFill>
              </a:rPr>
              <a:t>JWT, bcrypt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0" y="22860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2688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0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B2F"/>
                </a:solidFill>
              </a:rPr>
              <a:t>MySQL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69680" y="30632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D6F73"/>
                </a:solidFill>
              </a:rPr>
              <a:t>6 таблиц,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D6F73"/>
                </a:solidFill>
              </a:rPr>
              <a:t>InnoDB,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D6F73"/>
                </a:solidFill>
              </a:rPr>
              <a:t>транзакции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926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688EB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223760" y="2926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688EB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46120" y="3566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6F73"/>
                </a:solidFill>
              </a:rPr>
              <a:t>REST / JSON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23760" y="3566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6F73"/>
                </a:solidFill>
              </a:rPr>
              <a:t>SQL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D6F73"/>
                </a:solidFill>
              </a:rPr>
              <a:t>Backend - единственный компонент, имеющий доступ к базе данных: клиент никогда не обращается к MySQL напрямую.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B2F"/>
                </a:solidFill>
              </a:rPr>
              <a:t>Структура базы данных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F73"/>
                </a:solidFill>
              </a:rPr>
              <a:t>6 сущностей, board_members реализует ролевую модель участников</a:t>
            </a:r>
            <a:endParaRPr lang="en-US" sz="1500" dirty="0"/>
          </a:p>
        </p:txBody>
      </p:sp>
      <p:pic>
        <p:nvPicPr>
          <p:cNvPr id="4" name="Image 0" descr="/home/claude/deliverables/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10515600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B2F"/>
                </a:solidFill>
              </a:rPr>
              <a:t>API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F73"/>
                </a:solidFill>
              </a:rPr>
              <a:t>REST-эндпоинты backend, полная спецификация доступна через Swagger (/docs)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78992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2103120"/>
                <a:gridCol w="2743200"/>
              </a:tblGrid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8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Путь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8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Доступ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8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Назначение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8E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/auth/register, /auth/login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публичный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Регистрация, вход (выдача JWT)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GET / POST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/boards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авторизован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Список / создание досок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* /boards/{id}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и /members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reader..owner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CRUD доски, участники и роли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GET / POST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/boards/{id}/columns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reader / writer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Колонки доски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* /columns/{id}/cards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и /cards/{id}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reader / writer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CRUD и перемещение карточек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GET / POST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/cards/{id}/comments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reader / writer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B2F"/>
                          </a:solidFill>
                        </a:rPr>
                        <a:t>Комментарии к карточке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B2F"/>
                </a:solidFill>
              </a:rPr>
              <a:t>Ролевая модель (RBAC)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F73"/>
                </a:solidFill>
              </a:rPr>
              <a:t>Права проверяются на backend, а не только скрываются в интерфейсе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2057400"/>
          <a:ext cx="8686800" cy="2011680"/>
        </p:xfrm>
        <a:graphic>
          <a:graphicData uri="http://schemas.openxmlformats.org/drawingml/2006/table">
            <a:tbl>
              <a:tblPr/>
              <a:tblGrid>
                <a:gridCol w="2171700"/>
                <a:gridCol w="2171700"/>
                <a:gridCol w="2171700"/>
                <a:gridCol w="21717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Роль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8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Чтение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8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Редактирование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8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Управление участниками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8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2B2F"/>
                          </a:solidFill>
                        </a:rPr>
                        <a:t>reader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2B2F"/>
                          </a:solidFill>
                        </a:rPr>
                        <a:t>Да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2B2F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2B2F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2B2F"/>
                          </a:solidFill>
                        </a:rPr>
                        <a:t>writer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2B2F"/>
                          </a:solidFill>
                        </a:rPr>
                        <a:t>Да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2B2F"/>
                          </a:solidFill>
                        </a:rPr>
                        <a:t>Да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2B2F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2B2F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2B2F"/>
                          </a:solidFill>
                        </a:rPr>
                        <a:t>Да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2B2F"/>
                          </a:solidFill>
                        </a:rPr>
                        <a:t>Да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2B2F"/>
                          </a:solidFill>
                        </a:rPr>
                        <a:t>Да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737360" y="43434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6D6F73"/>
                </a:solidFill>
              </a:rPr>
              <a:t>Почему RBAC, а не ABAC: права имеют смысл только в контексте конкретной доски (один пользователь может быть владельцем одной доски и читателем другой). Дополнительных атрибутов ресурса/пользователя, влияющих на доступ, в задаче нет - ABAC был бы избыточным усложнением.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737360" y="5349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F73"/>
                </a:solidFill>
              </a:rPr>
              <a:t>Проверка выполняется в app/core/deps.py на каждый запрос - прямой вызов API в обход интерфейса не даст больше прав, чем предусмотрено ролью.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B2F"/>
                </a:solidFill>
              </a:rPr>
              <a:t>Модель авторизации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F73"/>
                </a:solidFill>
              </a:rPr>
              <a:t>JWT + bcrypt: как устроен вход и хранение паролей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5F8FC"/>
          </a:solidFill>
          <a:ln w="12700">
            <a:solidFill>
              <a:srgbClr val="268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B2F"/>
                </a:solidFill>
              </a:rPr>
              <a:t>Логин + пароль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063240" y="25146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88EB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66160" y="21031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5F8FC"/>
          </a:solidFill>
          <a:ln w="12700">
            <a:solidFill>
              <a:srgbClr val="2688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21031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B2F"/>
                </a:solidFill>
              </a:rPr>
              <a:t>Backend проверяет bcrypt-хэш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89320" y="25146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88EB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92240" y="21031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5F8FC"/>
          </a:solidFill>
          <a:ln w="12700">
            <a:solidFill>
              <a:srgbClr val="2688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1031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B2F"/>
                </a:solidFill>
              </a:rPr>
              <a:t>Выдаётся JWT-токен (HS256, срок жизни ограничен)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15400" y="25146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88E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418320" y="21031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2688EB"/>
          </a:solidFill>
          <a:ln w="12700">
            <a:solidFill>
              <a:srgbClr val="2688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55480" y="21031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Клиент шлёт токен в заголовке Authorization на каждый запрос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18191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FD8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admin   password: hash(my_password_123)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D6F73"/>
                </a:solidFill>
              </a:rPr>
              <a:t>Пароли никогда не хранятся в открытом виде - только в виде bcrypt-хэша. Даже при компрометации базы данных исходные пароли восстановить нельзя.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B2F"/>
                </a:solidFill>
              </a:rPr>
              <a:t>Защита от коллизий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F73"/>
                </a:solidFill>
              </a:rPr>
              <a:t>Что произойдёт, если два участника одновременно двигают одну карточку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8191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FD8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cards SET ..., version = version + 1  WHERE id = ?  AND  version = 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365760" cy="365760"/>
          </a:xfrm>
          <a:prstGeom prst="ellipse">
            <a:avLst/>
          </a:prstGeom>
          <a:solidFill>
            <a:srgbClr val="2688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0449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B2F"/>
                </a:solidFill>
              </a:rPr>
              <a:t>Alice открывает карточку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0" y="304495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F73"/>
                </a:solidFill>
              </a:rPr>
              <a:t>version =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767328"/>
            <a:ext cx="365760" cy="365760"/>
          </a:xfrm>
          <a:prstGeom prst="ellipse">
            <a:avLst/>
          </a:prstGeom>
          <a:solidFill>
            <a:srgbClr val="2688E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7033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B2F"/>
                </a:solidFill>
              </a:rPr>
              <a:t>Alice сохраняет изменение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37033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F73"/>
                </a:solidFill>
              </a:rPr>
              <a:t>UPDATE ... WHERE version = 3 -&gt; успех, version = 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425696"/>
            <a:ext cx="365760" cy="365760"/>
          </a:xfrm>
          <a:prstGeom prst="ellipse">
            <a:avLst/>
          </a:prstGeom>
          <a:solidFill>
            <a:srgbClr val="2688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25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43616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B2F"/>
                </a:solidFill>
              </a:rPr>
              <a:t>Bob (не обновивший экран) пытается сохранить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436168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F73"/>
                </a:solidFill>
              </a:rPr>
              <a:t>UPDATE ... WHERE version = 3 -&gt; 0 строк изменено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5084064"/>
            <a:ext cx="365760" cy="365760"/>
          </a:xfrm>
          <a:prstGeom prst="ellipse">
            <a:avLst/>
          </a:prstGeom>
          <a:solidFill>
            <a:srgbClr val="2688E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084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502005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B2F"/>
                </a:solidFill>
              </a:rPr>
              <a:t>Сервер возвращает 409 Conflict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502005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F73"/>
                </a:solidFill>
              </a:rPr>
              <a:t>Bob получает актуальную карточку, а не теряет данные Alice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6F73"/>
                </a:solidFill>
              </a:rPr>
              <a:t>Альтернатива - блокировка на уровне БД (SELECT ... FOR UPDATE) - была отвергнута: она заставляет пользователей физически ждать друг друга, тогда как конфликты редки, а optimistic locking решает их мягко.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B2F"/>
                </a:solidFill>
              </a:rPr>
              <a:t>Технологический стек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3383280" cy="3657600"/>
          </a:xfrm>
          <a:prstGeom prst="roundRect">
            <a:avLst>
              <a:gd name="adj" fmla="val 2703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40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88EB"/>
                </a:solidFill>
              </a:rPr>
              <a:t>Backend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2834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B2F"/>
                </a:solidFill>
              </a:rPr>
              <a:t>Python 3.12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B2F"/>
                </a:solidFill>
              </a:rPr>
              <a:t>FastAPI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B2F"/>
                </a:solidFill>
              </a:rPr>
              <a:t>SQLAlchemy 2.0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B2F"/>
                </a:solidFill>
              </a:rPr>
              <a:t>MySQL 8 / InnoDB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B2F"/>
                </a:solidFill>
              </a:rPr>
              <a:t>JWT + bcrypt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2011680"/>
            <a:ext cx="3383280" cy="3657600"/>
          </a:xfrm>
          <a:prstGeom prst="roundRect">
            <a:avLst>
              <a:gd name="adj" fmla="val 2703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2240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88EB"/>
                </a:solidFill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2834640"/>
            <a:ext cx="2834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B2F"/>
                </a:solidFill>
              </a:rPr>
              <a:t>React 18 + TypeScript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B2F"/>
                </a:solidFill>
              </a:rPr>
              <a:t>Vite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B2F"/>
                </a:solidFill>
              </a:rPr>
              <a:t>React Router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B2F"/>
                </a:solidFill>
              </a:rPr>
              <a:t>@hello-pangea/dnd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2011680"/>
            <a:ext cx="3383280" cy="3657600"/>
          </a:xfrm>
          <a:prstGeom prst="roundRect">
            <a:avLst>
              <a:gd name="adj" fmla="val 2703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2240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88EB"/>
                </a:solidFill>
              </a:rPr>
              <a:t>Инфраструктура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21040" y="2834640"/>
            <a:ext cx="2834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B2F"/>
                </a:solidFill>
              </a:rPr>
              <a:t>Docker Compose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B2F"/>
                </a:solidFill>
              </a:rPr>
              <a:t>Nginx (раздача статики)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B2F"/>
                </a:solidFill>
              </a:rPr>
              <a:t>smoke-тест сквозного сценария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B2F"/>
                </a:solidFill>
              </a:rPr>
              <a:t>Демонстрация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F73"/>
                </a:solidFill>
              </a:rPr>
              <a:t>Сценарии, показанные в записи работы приложения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74320" cy="274320"/>
          </a:xfrm>
          <a:prstGeom prst="ellipse">
            <a:avLst/>
          </a:prstGeom>
          <a:solidFill>
            <a:srgbClr val="2688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965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B2F"/>
                </a:solidFill>
              </a:rPr>
              <a:t>Регистрация и вход по логину/паролю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274320" cy="274320"/>
          </a:xfrm>
          <a:prstGeom prst="ellipse">
            <a:avLst/>
          </a:prstGeom>
          <a:solidFill>
            <a:srgbClr val="2688E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32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5328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B2F"/>
                </a:solidFill>
              </a:rPr>
              <a:t>Создание доски, автоматическое назначение владельца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145536"/>
            <a:ext cx="274320" cy="274320"/>
          </a:xfrm>
          <a:prstGeom prst="ellipse">
            <a:avLst/>
          </a:prstGeom>
          <a:solidFill>
            <a:srgbClr val="2688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99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30998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B2F"/>
                </a:solidFill>
              </a:rPr>
              <a:t>Добавление участника и назначение роли (writer / reader)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274320" cy="274320"/>
          </a:xfrm>
          <a:prstGeom prst="ellipse">
            <a:avLst/>
          </a:prstGeom>
          <a:solidFill>
            <a:srgbClr val="2688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66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66674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B2F"/>
                </a:solidFill>
              </a:rPr>
              <a:t>Создание колонок и карточек, редактирование описания и дедлайна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279392"/>
            <a:ext cx="274320" cy="274320"/>
          </a:xfrm>
          <a:prstGeom prst="ellipse">
            <a:avLst/>
          </a:prstGeom>
          <a:solidFill>
            <a:srgbClr val="2688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33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42336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B2F"/>
                </a:solidFill>
              </a:rPr>
              <a:t>Drag-and-drop карточек между колонками с сохранением порядка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274320" cy="274320"/>
          </a:xfrm>
          <a:prstGeom prst="ellipse">
            <a:avLst/>
          </a:prstGeom>
          <a:solidFill>
            <a:srgbClr val="2688E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4800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B2F"/>
                </a:solidFill>
              </a:rPr>
              <a:t>Комментарии к карточке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5413248"/>
            <a:ext cx="274320" cy="274320"/>
          </a:xfrm>
          <a:prstGeom prst="ellipse">
            <a:avLst/>
          </a:prstGeom>
          <a:solidFill>
            <a:srgbClr val="2688E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367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53675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B2F"/>
                </a:solidFill>
              </a:rPr>
              <a:t>Ограничение прав: участник с ролью reader не может ничего создавать/двигать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B2F"/>
                </a:solidFill>
              </a:rPr>
              <a:t>Что можно доработать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F73"/>
                </a:solidFill>
              </a:rPr>
              <a:t>Возможные расширения сверх обязательного MVP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2140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B2F"/>
                </a:solidFill>
              </a:rPr>
              <a:t>Теги и лейблы карточек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F73"/>
                </a:solidFill>
              </a:rPr>
              <a:t>Цветовая классификация задач по типу/приоритету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44728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B2F"/>
                </a:solidFill>
              </a:rPr>
              <a:t>Чеклисты внутри карточки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F73"/>
                </a:solidFill>
              </a:rPr>
              <a:t>Разбиение задачи на подпункты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77316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B2F"/>
                </a:solidFill>
              </a:rPr>
              <a:t>Вложения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12064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F73"/>
                </a:solidFill>
              </a:rPr>
              <a:t>Прикрепление файлов к карточкам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201168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12140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B2F"/>
                </a:solidFill>
              </a:rPr>
              <a:t>Audit log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46888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F73"/>
                </a:solidFill>
              </a:rPr>
              <a:t>История изменений доски - кто и когда что поменял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333756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44728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B2F"/>
                </a:solidFill>
              </a:rPr>
              <a:t>Поиск по карточкам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379476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F73"/>
                </a:solidFill>
              </a:rPr>
              <a:t>Полнотекстовый поиск внутри доски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466344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5F8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477316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B2F"/>
                </a:solidFill>
              </a:rPr>
              <a:t>Шаблоны досок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512064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F73"/>
                </a:solidFill>
              </a:rPr>
              <a:t>Быстрое создание типовых наборов колонок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Итог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274320" cy="274320"/>
          </a:xfrm>
          <a:prstGeom prst="ellipse">
            <a:avLst/>
          </a:prstGeom>
          <a:solidFill>
            <a:srgbClr val="3CB8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7373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6EA"/>
                </a:solidFill>
              </a:rPr>
              <a:t>Все обязательные пункты MVP реализованы и работают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04872"/>
            <a:ext cx="274320" cy="274320"/>
          </a:xfrm>
          <a:prstGeom prst="ellipse">
            <a:avLst/>
          </a:prstGeom>
          <a:solidFill>
            <a:srgbClr val="3CB87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3591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6EA"/>
                </a:solidFill>
              </a:rPr>
              <a:t>Роли проверяются на backend (RBAC), а не только в UI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026664"/>
            <a:ext cx="274320" cy="274320"/>
          </a:xfrm>
          <a:prstGeom prst="ellipse">
            <a:avLst/>
          </a:prstGeom>
          <a:solidFill>
            <a:srgbClr val="3CB8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98094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6EA"/>
                </a:solidFill>
              </a:rPr>
              <a:t>Пароли хранятся только в виде bcrypt-хэшей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274320" cy="274320"/>
          </a:xfrm>
          <a:prstGeom prst="ellipse">
            <a:avLst/>
          </a:prstGeom>
          <a:solidFill>
            <a:srgbClr val="3CB87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210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60273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6EA"/>
                </a:solidFill>
              </a:rPr>
              <a:t>Реализована защита от коллизий (optimistic locking)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270248"/>
            <a:ext cx="274320" cy="274320"/>
          </a:xfrm>
          <a:prstGeom prst="ellipse">
            <a:avLst/>
          </a:prstGeom>
          <a:solidFill>
            <a:srgbClr val="3CB87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42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2245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6EA"/>
                </a:solidFill>
              </a:rPr>
              <a:t>Весь стек поднимается одной командой через Docker Compose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760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88EB"/>
                </a:solidFill>
              </a:rPr>
              <a:t>Спасибо за внимание! Готов ответить на вопросы.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2026-07-18T11:50:45Z</dcterms:created>
  <dcterms:modified xsi:type="dcterms:W3CDTF">2026-07-18T11:50:45Z</dcterms:modified>
</cp:coreProperties>
</file>